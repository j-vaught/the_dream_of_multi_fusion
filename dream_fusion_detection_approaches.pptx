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70c7a16764531" /><Relationship Type="http://schemas.openxmlformats.org/officeDocument/2006/relationships/extended-properties" Target="/docProps/app.xml" Id="R1b872add63994a38" /><Relationship Type="http://schemas.openxmlformats.org/officeDocument/2006/relationships/officeDocument" Target="/ppt/presentation.xml" Id="R352264f32a8e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698a99b8294c60"/>
  </p:sldMasterIdLst>
  <p:notesMasterIdLst>
    <p:notesMasterId xmlns:r="http://schemas.openxmlformats.org/officeDocument/2006/relationships" r:id="R45912a26a412479a"/>
  </p:notesMasterIdLst>
  <p:sldIdLst>
    <p:sldId xmlns:r="http://schemas.openxmlformats.org/officeDocument/2006/relationships" id="256" r:id="R88d13fec53ee45e9"/>
    <p:sldId xmlns:r="http://schemas.openxmlformats.org/officeDocument/2006/relationships" id="257" r:id="Rb0ab3f45caa04bad"/>
    <p:sldId xmlns:r="http://schemas.openxmlformats.org/officeDocument/2006/relationships" id="258" r:id="R9905b7e47ba7469f"/>
    <p:sldId xmlns:r="http://schemas.openxmlformats.org/officeDocument/2006/relationships" id="259" r:id="Rf834919b6e6c4092"/>
    <p:sldId xmlns:r="http://schemas.openxmlformats.org/officeDocument/2006/relationships" id="260" r:id="Ra59181a3a1584159"/>
    <p:sldId xmlns:r="http://schemas.openxmlformats.org/officeDocument/2006/relationships" id="261" r:id="Rdf2ac19035224fb7"/>
    <p:sldId xmlns:r="http://schemas.openxmlformats.org/officeDocument/2006/relationships" id="262" r:id="Rb2d62710950e4ddf"/>
    <p:sldId xmlns:r="http://schemas.openxmlformats.org/officeDocument/2006/relationships" id="263" r:id="R020915eb9d6745a1"/>
    <p:sldId xmlns:r="http://schemas.openxmlformats.org/officeDocument/2006/relationships" id="264" r:id="Re80e15d177a24ac6"/>
    <p:sldId xmlns:r="http://schemas.openxmlformats.org/officeDocument/2006/relationships" id="265" r:id="R5cd7de5b20ea46c7"/>
    <p:sldId xmlns:r="http://schemas.openxmlformats.org/officeDocument/2006/relationships" id="266" r:id="R48fa7c744057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530ff671548a9" /><Relationship Type="http://schemas.openxmlformats.org/officeDocument/2006/relationships/slideMaster" Target="/ppt/slideMasters/slideMaster1.xml" Id="Ref698a99b8294c60" /><Relationship Type="http://schemas.openxmlformats.org/officeDocument/2006/relationships/notesMaster" Target="/ppt/notesMasters/notesMaster1.xml" Id="R45912a26a412479a" /><Relationship Type="http://schemas.openxmlformats.org/officeDocument/2006/relationships/presProps" Target="/ppt/presProps.xml" Id="Rfde5e693cf4f4bb3" /><Relationship Type="http://schemas.openxmlformats.org/officeDocument/2006/relationships/tableStyles" Target="/ppt/tableStyles.xml" Id="Rb60a87a198574436" /><Relationship Type="http://schemas.openxmlformats.org/officeDocument/2006/relationships/slide" Target="/ppt/slides/slide1.xml" Id="R88d13fec53ee45e9" /><Relationship Type="http://schemas.openxmlformats.org/officeDocument/2006/relationships/slide" Target="/ppt/slides/slide2.xml" Id="Rb0ab3f45caa04bad" /><Relationship Type="http://schemas.openxmlformats.org/officeDocument/2006/relationships/slide" Target="/ppt/slides/slide3.xml" Id="R9905b7e47ba7469f" /><Relationship Type="http://schemas.openxmlformats.org/officeDocument/2006/relationships/slide" Target="/ppt/slides/slide4.xml" Id="Rf834919b6e6c4092" /><Relationship Type="http://schemas.openxmlformats.org/officeDocument/2006/relationships/slide" Target="/ppt/slides/slide5.xml" Id="Ra59181a3a1584159" /><Relationship Type="http://schemas.openxmlformats.org/officeDocument/2006/relationships/slide" Target="/ppt/slides/slide6.xml" Id="Rdf2ac19035224fb7" /><Relationship Type="http://schemas.openxmlformats.org/officeDocument/2006/relationships/slide" Target="/ppt/slides/slide7.xml" Id="Rb2d62710950e4ddf" /><Relationship Type="http://schemas.openxmlformats.org/officeDocument/2006/relationships/slide" Target="/ppt/slides/slide8.xml" Id="R020915eb9d6745a1" /><Relationship Type="http://schemas.openxmlformats.org/officeDocument/2006/relationships/slide" Target="/ppt/slides/slide9.xml" Id="Re80e15d177a24ac6" /><Relationship Type="http://schemas.openxmlformats.org/officeDocument/2006/relationships/slide" Target="/ppt/slides/slide10.xml" Id="R5cd7de5b20ea46c7" /><Relationship Type="http://schemas.openxmlformats.org/officeDocument/2006/relationships/slide" Target="/ppt/slides/slide11.xml" Id="R48fa7c744057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03b88fd60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43177ceb4434d" /><Relationship Type="http://schemas.openxmlformats.org/officeDocument/2006/relationships/notesMaster" Target="/ppt/notesMasters/notesMaster1.xml" Id="Rc2aaf8c6e3bb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d62f950b44f7d" /><Relationship Type="http://schemas.openxmlformats.org/officeDocument/2006/relationships/notesMaster" Target="/ppt/notesMasters/notesMaster1.xml" Id="R7bfccf730a00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316546c814084" /><Relationship Type="http://schemas.openxmlformats.org/officeDocument/2006/relationships/notesMaster" Target="/ppt/notesMasters/notesMaster1.xml" Id="Rd2aefe6f683c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60a99f7634a2d" /><Relationship Type="http://schemas.openxmlformats.org/officeDocument/2006/relationships/notesMaster" Target="/ppt/notesMasters/notesMaster1.xml" Id="Rec1b1cf8a47b4f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5582c664a47a0" /><Relationship Type="http://schemas.openxmlformats.org/officeDocument/2006/relationships/notesMaster" Target="/ppt/notesMasters/notesMaster1.xml" Id="R529e673b92de46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ff3055bfe34bfd" /><Relationship Type="http://schemas.openxmlformats.org/officeDocument/2006/relationships/notesMaster" Target="/ppt/notesMasters/notesMaster1.xml" Id="R016a42ab49a249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a0edacbafe48f1" /><Relationship Type="http://schemas.openxmlformats.org/officeDocument/2006/relationships/notesMaster" Target="/ppt/notesMasters/notesMaster1.xml" Id="R89ea012bd0d84a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da8b1c87c44fa0" /><Relationship Type="http://schemas.openxmlformats.org/officeDocument/2006/relationships/notesMaster" Target="/ppt/notesMasters/notesMaster1.xml" Id="Rb338b51f8f7549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7d8f75705948fb" /><Relationship Type="http://schemas.openxmlformats.org/officeDocument/2006/relationships/notesMaster" Target="/ppt/notesMasters/notesMaster1.xml" Id="R819889c542fd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6526bbc79f4aff" /><Relationship Type="http://schemas.openxmlformats.org/officeDocument/2006/relationships/notesMaster" Target="/ppt/notesMasters/notesMaster1.xml" Id="R3ed6b6b2868640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a86d81f894694" /><Relationship Type="http://schemas.openxmlformats.org/officeDocument/2006/relationships/notesMaster" Target="/ppt/notesMasters/notesMaster1.xml" Id="R756e59cdc3e1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image. data/rgb_out/119_rgb.png on comech-2422.</a:t>
            </a:r>
          </a:p>
          <a:p xmlns:a="http://schemas.openxmlformats.org/drawingml/2006/main">
            <a:r>
              <a:t>- Experiment scope. out/datasets/dream_fusion_yolo/manifest.jsonl.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Vision and confidence-gated implementation. run_detection_experiments.py.</a:t>
            </a:r>
          </a:p>
          <a:p xmlns:a="http://schemas.openxmlformats.org/drawingml/2006/main">
            <a:r>
              <a:t>- Radar-bounded crop implementation. dream_multi_fusion.py on comech-2422.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Ground truth counts and bounding boxes. out/datasets/dream_fusion_yolo/manifest.jsonl.</a:t>
            </a:r>
          </a:p>
          <a:p xmlns:a="http://schemas.openxmlformats.org/drawingml/2006/main">
            <a:r>
              <a:t>- Source images. data/rgb_out/119_rgb.png on comech-2422.</a:t>
            </a:r>
          </a:p>
          <a:p xmlns:a="http://schemas.openxmlformats.org/drawingml/2006/main">
            <a:r>
              <a:t>- Matching rule. evaluate_detection_experiments.py.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Pipeline settings. run_detection_experiments.py.</a:t>
            </a:r>
          </a:p>
          <a:p xmlns:a="http://schemas.openxmlformats.org/drawingml/2006/main">
            <a:r>
              <a:t>- Test metrics. experiments/detection_comparison/metrics.json.</a:t>
            </a:r>
          </a:p>
          <a:p xmlns:a="http://schemas.openxmlformats.org/drawingml/2006/main">
            <a:r>
              <a:t>- Visual evidence. 11_zoom_exp1_vision_only.mp4, camera frame 119.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Pipeline settings and radar support rule. run_detection_experiments.py.</a:t>
            </a:r>
          </a:p>
          <a:p xmlns:a="http://schemas.openxmlformats.org/drawingml/2006/main">
            <a:r>
              <a:t>- Validation-only threshold selection and test metrics. experiments/detection_comparison/metrics.json.</a:t>
            </a:r>
          </a:p>
          <a:p xmlns:a="http://schemas.openxmlformats.org/drawingml/2006/main">
            <a:r>
              <a:t>- Visual evidence. 11_zoom_exp1_vision_only.mp4 and 12_zoom_exp2_radar_gated.mp4, camera frame 203.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Radar crop, water filtering, resizing, merging, and NMS. dream_multi_fusion.py on comech-2422.</a:t>
            </a:r>
          </a:p>
          <a:p xmlns:a="http://schemas.openxmlformats.org/drawingml/2006/main">
            <a:r>
              <a:t>- Test metrics. experiments/detection_comparison/metrics.json.</a:t>
            </a:r>
          </a:p>
          <a:p xmlns:a="http://schemas.openxmlformats.org/drawingml/2006/main">
            <a:r>
              <a:t>- b2 frame-level matches. out/detections.jsonl evaluated against the ground-truth manifest.</a:t>
            </a:r>
          </a:p>
          <a:p xmlns:a="http://schemas.openxmlformats.org/drawingml/2006/main">
            <a:r>
              <a:t>- Visual evidence. 13_zoom_exp3_radar_bounded.mp4, camera frames 203 and 408.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Representative detections. zoomed experiment videos on camera frames 203 and 408.</a:t>
            </a:r>
          </a:p>
          <a:p xmlns:a="http://schemas.openxmlformats.org/drawingml/2006/main">
            <a:r>
              <a:t>- Dataset scope. out/datasets/dream_fusion_yolo/manifest.jsonl.</a:t>
            </a:r>
          </a:p>
          <a:p xmlns:a="http://schemas.openxmlformats.org/drawingml/2006/main">
            <a:r>
              <a:t>- Pipeline behavior. run_detection_experiments.py and dream_multi_fusion.py on comech-2422.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Held-out test metrics. experiments/detection_comparison/metrics.json.</a:t>
            </a:r>
          </a:p>
          <a:p xmlns:a="http://schemas.openxmlformats.org/drawingml/2006/main">
            <a:r>
              <a:t>- Test ground-truth counts. out/datasets/dream_fusion_yolo/manifest.jsonl.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Held-out test metrics. experiments/detection_comparison/metrics.json.</a:t>
            </a:r>
          </a:p>
          <a:p xmlns:a="http://schemas.openxmlformats.org/drawingml/2006/main">
            <a:r>
              <a:t>- Ground-truth split and instance counts. out/datasets/dream_fusion_yolo/manifest.jsonl.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Decision questions derived from the observed method behavior and dataset limitations.</a:t>
            </a:r>
          </a:p>
          <a:p xmlns:a="http://schemas.openxmlformats.org/drawingml/2006/main">
            <a:r>
              <a:t>- Evidence base. experiments/detection_comparison/metrics.json and the three zoomed evaluation videos.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Ground truth and splits. out/datasets/dream_fusion_yolo/manifest.jsonl.</a:t>
            </a:r>
          </a:p>
          <a:p xmlns:a="http://schemas.openxmlformats.org/drawingml/2006/main">
            <a:r>
              <a:t>- Vision and confidence-gate settings. run_detection_experiments.py.</a:t>
            </a:r>
          </a:p>
          <a:p xmlns:a="http://schemas.openxmlformats.org/drawingml/2006/main">
            <a:r>
              <a:t>- Radar-bounded settings. dream_multi_fusion.py on comech-2422.</a:t>
            </a:r>
          </a:p>
          <a:p xmlns:a="http://schemas.openxmlformats.org/drawingml/2006/main">
            <a:r>
              <a:t>- Evaluation implementation. evaluate_detection_experiments.py.</a:t>
            </a:r>
          </a:p>
          <a:p xmlns:a="http://schemas.openxmlformats.org/drawingml/2006/main">
            <a:r>
              <a:t>- Metrics artifact. experiments/detection_comparison/metrics.json.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33a085a03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70378791349a3" /><Relationship Type="http://schemas.openxmlformats.org/officeDocument/2006/relationships/slideLayout" Target="/ppt/slideLayouts/slideLayout1.xml" Id="R56b0807c8df642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0807c8df642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769ea7cf6449c" /><Relationship Type="http://schemas.openxmlformats.org/officeDocument/2006/relationships/image" Target="/ppt/media/image.jpeg" Id="R8e1d638333d14eae" /><Relationship Type="http://schemas.openxmlformats.org/officeDocument/2006/relationships/notesSlide" Target="/ppt/notesSlides/notesSlide1.xml" Id="R459e9180b067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80e02782e4d7e" /><Relationship Type="http://schemas.openxmlformats.org/officeDocument/2006/relationships/notesSlide" Target="/ppt/notesSlides/notesSlide2.xml" Id="Rc1d9360fbc404c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523b76e54008" /><Relationship Type="http://schemas.openxmlformats.org/officeDocument/2006/relationships/image" Target="/ppt/media/image2.jpeg" Id="Rcc9ef42e88e34d0d" /><Relationship Type="http://schemas.openxmlformats.org/officeDocument/2006/relationships/image" Target="/ppt/media/image3.jpeg" Id="Rf179faeec72c4d81" /><Relationship Type="http://schemas.openxmlformats.org/officeDocument/2006/relationships/notesSlide" Target="/ppt/notesSlides/notesSlide3.xml" Id="Ra092d15da6d8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64d8546604bbc" /><Relationship Type="http://schemas.openxmlformats.org/officeDocument/2006/relationships/image" Target="/ppt/media/image.png" Id="R428a2fe3c2e8420f" /><Relationship Type="http://schemas.openxmlformats.org/officeDocument/2006/relationships/notesSlide" Target="/ppt/notesSlides/notesSlide4.xml" Id="Rb4d75ac00a41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48b1d60974393" /><Relationship Type="http://schemas.openxmlformats.org/officeDocument/2006/relationships/image" Target="/ppt/media/image2.png" Id="R467cdce2c50d4383" /><Relationship Type="http://schemas.openxmlformats.org/officeDocument/2006/relationships/image" Target="/ppt/media/image3.png" Id="R2aaa3ffcde904a4a" /><Relationship Type="http://schemas.openxmlformats.org/officeDocument/2006/relationships/notesSlide" Target="/ppt/notesSlides/notesSlide5.xml" Id="Re556e35a48054f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c70a62c194f2c" /><Relationship Type="http://schemas.openxmlformats.org/officeDocument/2006/relationships/image" Target="/ppt/media/image4.png" Id="R4539eae09e4843e7" /><Relationship Type="http://schemas.openxmlformats.org/officeDocument/2006/relationships/image" Target="/ppt/media/image5.png" Id="R518c3682ffee4203" /><Relationship Type="http://schemas.openxmlformats.org/officeDocument/2006/relationships/notesSlide" Target="/ppt/notesSlides/notesSlide6.xml" Id="Ra2250245c2b4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b9f2911b4376" /><Relationship Type="http://schemas.openxmlformats.org/officeDocument/2006/relationships/image" Target="/ppt/media/image6.png" Id="Raa104b9f02e54b88" /><Relationship Type="http://schemas.openxmlformats.org/officeDocument/2006/relationships/image" Target="/ppt/media/image7.png" Id="R1b3e305364334475" /><Relationship Type="http://schemas.openxmlformats.org/officeDocument/2006/relationships/image" Target="/ppt/media/image8.png" Id="Rc81cb7c0f1a24018" /><Relationship Type="http://schemas.openxmlformats.org/officeDocument/2006/relationships/notesSlide" Target="/ppt/notesSlides/notesSlide7.xml" Id="R5dbb1f9473c3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570888cd47ee" /><Relationship Type="http://schemas.openxmlformats.org/officeDocument/2006/relationships/notesSlide" Target="/ppt/notesSlides/notesSlide8.xml" Id="R3695df3b95da4f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7319742b245e2" /><Relationship Type="http://schemas.openxmlformats.org/officeDocument/2006/relationships/notesSlide" Target="/ppt/notesSlides/notesSlide9.xml" Id="R931f202b6178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b1518ff794b37" /><Relationship Type="http://schemas.openxmlformats.org/officeDocument/2006/relationships/notesSlide" Target="/ppt/notesSlides/notesSlide10.xml" Id="R75c498a898ff4e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a6afcd8aa41c1" /><Relationship Type="http://schemas.openxmlformats.org/officeDocument/2006/relationships/notesSlide" Target="/ppt/notesSlides/notesSlide11.xml" Id="Raea6925d32bd46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d638333d14eae"/>
          <a:srcRect xmlns:a="http://schemas.openxmlformats.org/drawingml/2006/main" l="0" t="685" r="0" b="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33C47-3DF8-4ACD-81EA-E8096BF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F9FF7-F96E-4AEA-BA28-540F23D7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0B9D-D83D-40AA-BFCB-A289A43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Radar–camera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4A605-0BF0-4C01-978E-295A871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Boat and buoy detection across three fusion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15244-20D6-48B0-81B9-9C18208D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2E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2E3"/>
                </a:solidFill>
                <a:latin typeface="Arial"/>
                <a:ea typeface="Arial"/>
                <a:cs typeface="Arial"/>
              </a:rPr>
              <a:t>Boats and buoys • 300 frames • IoU 0.50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99F53-30F5-4C67-896D-C3B9AB6D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7055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761C50-404A-4615-9F0A-4003A9A7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COMPARISON DESIGN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B80F580-61D0-4EEE-A14E-5CF5CB6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enters each pipeline at a different 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D8925-D628-4093-B097-A91A3753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EABC6-4686-4E6F-9B43-B8EAF8A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5A8FD-772C-4DA3-A04E-A5E40E57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 Vision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F2531-590F-48A4-9586-CC969A4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18954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4D0A6-49A0-445B-9919-AF3164CE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954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2627A-3591-4942-B032-F3E1293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18954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D9915-0755-41F1-97F1-5941F8A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F68D9-1FC2-49E1-9611-CFD41B75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Camera 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9BB71-3B38-4983-BD20-EE1F4516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15621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0F41-190B-4713-AEE8-A62E233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16764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Overlapping tiles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DA71E-3B33-42E3-A7F8-CE68A4B4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621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947B6-CEAF-45A1-A108-7BDBAF6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764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Grounding DINO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E0A41-1A9F-4213-9430-CCCF56CD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15621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2A52C-0794-4D1F-83D1-08D80B4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16764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58244-D562-4B6C-9BCF-35A60F90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 Confidence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9DBE9-A3AF-4DD9-BCDE-4B4FC08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3305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53767-4BD5-4447-A0BB-4B50206A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AEA25-12A3-4041-9713-8D2AD75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3051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76A0A-76EC-4563-8A63-E566DF0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718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D841C-8B85-4782-9791-44C85C33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Camera frame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A2A9B-19A2-408D-8940-C2E3C17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29718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701DB-B91C-415A-843E-3831C82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30861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Tiled candidates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6E90C-F59F-47FE-99E4-163CDA4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718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FA987-8DF5-42D1-8C85-2A2B05F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861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Radar-supported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ECF86-6734-4C67-AA4B-AF21A88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29718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E4494-2836-4FA4-AD65-477A617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0861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D21FD-3807-4B44-B1F4-C6BB781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 Radar-bounded crops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4349A-5481-45E8-80D2-946DED60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4714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2832E2-FF28-47DB-ABA7-D1D4A25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14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45CA7-078A-4F7B-BA13-26D4CB94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714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36C3B-5EA8-4D9C-8288-5015163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815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23E21A-1A20-4372-A5A0-6B19A3B8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returns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BEAA6F-039F-4AD5-A5A9-BEA8B818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3815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444B9A-9F95-443D-B44E-C2AD00E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44958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Padded image crops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3181F2-6CB7-45BB-A716-8776A36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815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57C7D9-17E5-46A3-A6D3-19260C0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958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Grounding DINO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3D7D-2EF0-4AC9-8FF7-A2527E75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4381500"/>
            <a:ext cx="19669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9A2341-2CD6-4ACE-A901-3EA27C08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4495800"/>
            <a:ext cx="17383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Remap + merge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A3B836-FBB0-4FDA-B06A-28BE8FA2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FA982F-0C83-48E5-AB19-C03A9E0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243BA3-F640-44CD-BAAB-3CB6D040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1126289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6B20E-DC08-45CF-BF4E-B4B0DF44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GROUND TRUTH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D4E6539-25F3-478E-9CA8-C986E24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095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evaluation is strict and dominated by tiny buoy instances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769E8-01ED-4CC2-853A-0513563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72C0F-7F09-4A63-BC8E-971D7B5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ef42e88e34d0d"/>
          <a:srcRect xmlns:a="http://schemas.openxmlformats.org/drawingml/2006/main" l="0" t="634" r="0" b="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6191250" cy="3486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6E38F-AE40-46CA-B573-5AD2FFE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81ED-C1CC-4A9D-98A6-41902B1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Full 5320 × 3032 frame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9faeec72c4d81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428750"/>
            <a:ext cx="4095750" cy="3409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172BF-CB32-4652-9550-B7E3C367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40957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C0BAD-BB0C-4DE3-BE4A-0433DF79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14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C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C2E40"/>
                </a:solidFill>
                <a:latin typeface="Arial"/>
                <a:ea typeface="Arial"/>
                <a:cs typeface="Arial"/>
              </a:rPr>
              <a:t>Nearby b2 ground truth  •  4.7–6.1 px wide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5F6CE-0C08-4E26-AFE6-718824D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149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63829-E6DD-4EBE-96C2-891E9E8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293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camera 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CCB00-3DC3-4451-83AC-891878C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41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414D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9D0A5-AE21-40E7-B6C2-6FC3695D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293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boat instances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3CA4A-1BCB-4C21-ABD2-9674F4B6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491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49137"/>
                </a:solidFill>
                <a:latin typeface="Arial"/>
                <a:ea typeface="Arial"/>
                <a:cs typeface="Arial"/>
              </a:rPr>
              <a:t>2,192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D94AF-354B-4734-B686-AA75A7E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293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buoy instances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2E954-BABF-469C-B392-031BEB3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76F9E-4FA7-4E21-9EFC-DF774BC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07C57-D697-46D6-BF11-2BF9904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362226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4DDB99-50AC-43A0-873D-887AD13B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APPROACH 1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42350CB-86C1-4EE6-B1E4-8275BE37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Tiling preserves detail, but tiny targets still disappear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478FB-836B-4379-BE50-FB7719F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14224-A3E0-45A3-97F5-C50BCBA9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D14C3-6BF8-4390-9751-9D0304B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666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4AD78-B64B-405B-AFAA-D275F88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66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AD31D-EF6C-485D-B88D-79D6832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66687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70C43-F8C7-4B02-9C24-8DE2EBC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50031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0713B-E990-4E6D-AAE8-DA1AD3C9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2717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5320 × 3032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E98F9-A855-4804-9688-BC4B0D6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90650"/>
            <a:ext cx="250031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B20B-A2DF-4D80-B9B9-5870A39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04950"/>
            <a:ext cx="22717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Nine overlapping tiles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8999A-2B3B-4F8F-9136-7B5262EE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90650"/>
            <a:ext cx="250031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D8F6B-1C5F-4987-B4B0-80BDE864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04950"/>
            <a:ext cx="22717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DINO at 1024 / 1600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D931D-7A8F-4231-ABCD-DD4B68C4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1390650"/>
            <a:ext cx="2500313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7B6A7-BBD9-4ECE-9FB3-EF912FD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1504950"/>
            <a:ext cx="22717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Class-aware NMS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a2fe3c2e8420f"/>
          <a:srcRect xmlns:a="http://schemas.openxmlformats.org/drawingml/2006/main" l="0" t="16696" r="0" b="16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400300"/>
            <a:ext cx="6572250" cy="36480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D25A1-57B7-49E5-B79E-D796778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57225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8F7FE-A85C-4387-A4A3-E392D2EE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Frame 119  •  boat and main buoy detected  •  b2 missed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18BB9-536A-46DA-807E-053959B8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1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14D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5AD40-185A-4655-A711-00A77A31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boat recall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BD53F-9AA1-4B8A-AB15-B6C2B3F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491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9137"/>
                </a:solidFill>
                <a:latin typeface="Arial"/>
                <a:ea typeface="Arial"/>
                <a:cs typeface="Arial"/>
              </a:rPr>
              <a:t>8.9%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FAE34-A9CE-439A-9C3E-9DA5CA2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buoy 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23B90-DB30-4328-8A60-9A57023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98.6%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2C526-4F18-4904-9BE7-FC47BF2D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overall precision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85A68-427E-43A8-A4CD-9ECCFBC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0.336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78B64-20D9-409A-A3A6-24CB39D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overall 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C6D4C-1157-4DAF-95F4-7563703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06E75-7655-4BA3-A3B2-099F9930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19066-A91F-4E46-AA06-2AFE7BB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482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D4EAF-2EA1-4815-A028-D3897413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91100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SUCCESS — All 45 test boats found; one false positive.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91DAD-19D2-4AF5-9F4F-686DD72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B47A0-09DA-430F-BAF4-2109A260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098A1-6308-4A8D-9A8B-A41E5BB9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912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2B11C-A4F8-46B4-88E6-58CAF00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531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FAILURE — Distant buoys remain below useful model scale.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15B96-CED8-4008-A703-88819D3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58487B-FEAB-412D-BB42-09B1E3D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AAF88-03D4-41C6-A210-186CC893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1844490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040024-9919-4E5E-A8A8-7E41ACA3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APPROACH 2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15522B8-3A24-4500-8EE3-A6B74649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gating recovers some low-confidence detections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789C-475B-45AD-9F46-A4C8C53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EE6AB-BF2C-4FA2-A5E7-B2A70B5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11B04-739B-4239-B7CC-B63DA4DF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6BDA-2FAF-4265-B936-874EB31F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47FCB-9786-46CE-88BB-3EEA7CC4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43C2F-FA03-4309-8B7A-E25959C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06543-7A4F-49D0-9BAF-3A84F41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Tiled candidates ≥ 0.10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9DD55-BE97-4F82-9C89-2E28328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66A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8BD13-9BDD-4A67-8E57-CCC593E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 ≥ 0.18 anywhere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F19B7-7C34-488A-A2C6-B68C8C7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62559-A8D2-4B21-A214-DA20195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 0.16–0.18 near radar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FBC33-A931-4965-ADA2-EEB17088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13140-0F67-4D17-A5FD-0B164565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Class-aware NMS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cdce2c50d4383"/>
          <a:srcRect xmlns:a="http://schemas.openxmlformats.org/drawingml/2006/main" l="0" t="16588" r="0" b="1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62200"/>
            <a:ext cx="4857750" cy="2705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C33CA-CE67-4995-8531-F5BD404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a3ffcde904a4a"/>
          <a:srcRect xmlns:a="http://schemas.openxmlformats.org/drawingml/2006/main" l="0" t="16588" r="0" b="1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362200"/>
            <a:ext cx="4857750" cy="2705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58AF5-BBBA-490B-8D14-40E19A3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4857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A49F7-889A-456F-B1C2-76C9987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Vision only  •  b1 missed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94B0D-8D19-48B4-BF57-457150BD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Radar gate  •  b1 recovered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E0C32-229E-468D-9DC6-610CA22B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956EB-7CE5-4D69-B080-8204A63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true positives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788FF-9DE6-4A57-8808-70F1513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C2E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C2E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BA4BC-206B-497F-8C3A-15373F0C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76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false positives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F546F-1057-477C-ACDB-230B10F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491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9137"/>
                </a:solidFill>
                <a:latin typeface="Arial"/>
                <a:ea typeface="Arial"/>
                <a:cs typeface="Arial"/>
              </a:rPr>
              <a:t>12.1%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507AF-A584-4635-B157-85969FF9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76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buoy recall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4B189-3236-43CB-BAC0-88389FDA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42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324DA-7794-4A3A-8ED3-711A3076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9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821C4-38A8-4955-A7D1-79CE558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4911A-65C0-41CC-8556-30F38EA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769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MECHANISM — Radar rescues weak candidates; it cannot create a missing candidate.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E007E6-7C51-45B8-ABE3-2E642773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3F158-B937-459C-A60D-36B0A8B2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4B7C5A-CC10-4B5F-9218-AD32079A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466523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6CE65A-BECA-4DF0-91D6-EAE1C42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APPROACH 3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1601ACA-340E-447E-B7C0-217AD63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crops magnify targets and clutter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D3CFE-34FD-42EB-88A1-570C6668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42BFB-E032-40FB-8EAA-13902A3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04AC-5C7B-4311-B8A9-A55B9BE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35F6-7D86-4DD9-B524-06520B23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5B568-CDC3-4AB5-A428-9E5E0D5D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6192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 w="9525">
            <a:solidFill>
              <a:srgbClr val="A2A2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A6E0C-2A7C-4831-BCB4-4C408184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9B66C-7C92-4450-8955-5C52EA8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returns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9361B-23AF-477F-803A-FD36AAC1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41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D603A-7683-44E1-922C-0829BDB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 / shape filtering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8E9D1-39FF-45E1-9A1D-E866DABC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491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AA94A-7F2B-46E9-A4BC-85BC807F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150 px padded crops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A9DC4-ECED-48C7-9907-8F19F98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1352550"/>
            <a:ext cx="25003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300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4EE80-2667-4E32-8209-4FF2DED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1466850"/>
            <a:ext cx="22717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DINO + remap + NMS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9eae09e4843e7"/>
          <a:srcRect xmlns:a="http://schemas.openxmlformats.org/drawingml/2006/main" l="0" t="16588" r="0" b="1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62200"/>
            <a:ext cx="4857750" cy="2705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FC45B-8C2E-440B-87E1-F54A652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c3682ffee4203"/>
          <a:srcRect xmlns:a="http://schemas.openxmlformats.org/drawingml/2006/main" l="0" t="16588" r="0" b="1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362200"/>
            <a:ext cx="4857750" cy="2705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E70CB-A672-46BA-8CD3-2BCE1363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4857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DDB21-AE36-42C7-B1D1-C028D03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Frame 203  •  b2 recovered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53A8D-5858-4237-B537-361F612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Frame 408  •  clutter and duplicates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2F697-FAFE-444A-B66E-1972E55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491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9137"/>
                </a:solidFill>
                <a:latin typeface="Arial"/>
                <a:ea typeface="Arial"/>
                <a:cs typeface="Arial"/>
              </a:rPr>
              <a:t>25.0%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4F9E5-412F-4D64-A5A9-BF00917B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overall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AC3B1-D904-43DB-BC24-967C0F3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C2E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C2E40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04D8A-5BF4-4483-9D70-370E8D4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76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false positives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94C2B-3660-4851-ABDB-1F63BD1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59.6%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13219-4FE0-45B1-B7CC-2B6CFC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overall precision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FC018-7992-4E10-8407-BD716F3E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42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93988-883E-4BBD-A922-D3EDDEB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FD5EB-8198-44EE-A493-6018C0B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13BCF-F7E9-455E-84FE-FD90FCE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7690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BEHAVIOR — Crops recover b2 on 13 frames, while also amplifying clutter.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42FC0-12F8-47A6-B91F-652B5A48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8463B-4017-4701-82CA-55E9AB66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C822AD-EE21-47FC-9403-4B52522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36148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BB708-5ECD-4010-8A35-F727EDE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BD0613D-04E2-4BFA-8019-8595FBE8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method fails for a different technical reason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29DE2-4079-446F-BDCB-4A6975F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1AA92-3C9D-43EA-9767-62264D48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04b9f02e54b88"/>
          <a:srcRect xmlns:a="http://schemas.openxmlformats.org/drawingml/2006/main" l="0" t="16512" r="0" b="16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276600" cy="1828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D6EAE-BCA9-465B-ACC1-0DFA8B47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76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804EA-F1E4-4DFD-A4E3-A9445504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Scale-limited candidate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DC949-84E7-4DEF-A5B5-C758130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100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2C1C4-C200-4D8D-BD99-BE51A63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Vision-only inference misses tiny targets when no sufficiently confident candidate survives tiling and resizing.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e305364334475"/>
          <a:srcRect xmlns:a="http://schemas.openxmlformats.org/drawingml/2006/main" l="0" t="16512" r="0" b="16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2900" y="1524000"/>
            <a:ext cx="3276600" cy="1828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BD652-F21A-4AEA-B8B5-AA9DB22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24000"/>
            <a:ext cx="3276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ECB2A-594A-4670-AE4E-61C7DA15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242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Gate-limited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9A977-1EE9-4986-B42D-55A06F7F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100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9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07F92-A0A8-4802-B6B6-5ACF966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19600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Radar gating helps only after a candidate exists. Very small buoys can remain absent even inside a valid radar region.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cb7c0f1a24018"/>
          <a:srcRect xmlns:a="http://schemas.openxmlformats.org/drawingml/2006/main" l="0" t="16512" r="0" b="16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1524000"/>
            <a:ext cx="3276600" cy="1828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34753-D8DF-4BBB-8DD8-4333BB2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3276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CCB61-F2BC-49C5-BB20-C4B1C66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Crop-amplified false alarms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D5FFB-0CB1-45BA-9170-5553D62C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90A03-7E62-4B13-89D9-A0B0C53F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9600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Bounded crops magnify targets, background structure, and imperfect hypotheses. Remapping can leave duplicates or poor localization.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7A4B6-381F-4F67-9A11-31B1DF0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670D9-6B2C-4826-970A-E804E3F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32401-BDBF-4508-9237-E55A7AA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061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7139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3636"/>
                </a:solidFill>
                <a:latin typeface="Arial"/>
                <a:ea typeface="Arial"/>
                <a:cs typeface="Arial"/>
              </a:rPr>
              <a:t>Shared limitation  This sequence is stationary and visually consistent. The comparison measures behavior on this scene, not robustness across weather, range, camera motion, or radar quality.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76FF2-96AC-4862-AB1B-367DDFA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A0743-F102-4964-B241-5C14A033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36903-2F4E-405A-A049-732EEC83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54265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459F6-5547-48BB-BDC9-EE9A88B2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F53955B-069F-4751-9224-D3CE5DF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Boats are saturated here; buoy recall separates the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BBB1-CEB8-45C5-883F-5C88B0B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EA8D-ACCD-43C1-8278-4F21FCB8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095375"/>
                <a:gridCol w="762000"/>
                <a:gridCol w="762000"/>
                <a:gridCol w="857250"/>
                <a:gridCol w="1428750"/>
                <a:gridCol w="1333500"/>
                <a:gridCol w="114300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Vision only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Buoy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287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8.9%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0.163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 gated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 gated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Buoy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277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12.1%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0.215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 bounded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 bounded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Buoy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61.6%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14.3%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0.232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4423C-3C0E-422E-BEB0-4B2E73C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09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8007D-8B6F-4F45-A049-AAE6E5F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A8EB1-F750-4858-8D74-63904836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74E8-D1A8-4346-BB08-E2BB618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BOATS — All 45 are found; false positives and box quality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FB071-B64D-4402-8247-166A922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48300"/>
            <a:ext cx="5095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9F64F-28C0-485B-A6F9-6259B85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483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9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D799B-D050-4F6F-A1BC-5486651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6007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BA9EA-C2E8-49D1-84B8-0D2A1B43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5626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BUOYS — Recall rises; crop-based precision falls.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40200-8EFA-453E-9A9B-586E03B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D27E2-9650-4475-AB31-3A28572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A3EAD-5435-41DB-ACF7-5F2B2F7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1245639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352A3-31C2-457A-BF85-0117001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AB66901-FC0D-412A-807F-7C3E72B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observed tradeoff is recall versus false alarms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BE7B-4880-48A4-9D39-AFF371E3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ED694-0B6D-4931-A635-9563F09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047750"/>
                <a:gridCol w="1047750"/>
                <a:gridCol w="1047750"/>
                <a:gridCol w="1619250"/>
                <a:gridCol w="1428750"/>
                <a:gridCol w="13335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73000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98.6%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 confidence gated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277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94.3%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23.1%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0.371</a:t>
                      </a:r>
                    </a:p>
                  </a:txBody>
                  <a:tcPr marL="91440" marR="91440" marT="45720" marB="45720"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Radar-bounded crops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59.6%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5D942-2611-410A-8BDF-9DDC54EF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940D5-28C0-4924-99A0-DD8FF7D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53484-E968-4120-8A36-370F07D8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317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 only → gated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0486F-3714-41A9-9F4E-F0200C52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10 more TP • 10 fewer FN • 4 more FP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AE9DA-5F2E-4979-8006-B6ADF8F9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72CB1-FCEC-4077-9CF4-CD9AC10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91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9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CB796-BACA-4767-B5BF-BC2C7CA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81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208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→ bounded crops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B9A51-0262-4234-94B6-7986E3C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7 more TP • 7 fewer FN • 56 more FP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FAA78-DEAC-4C19-A463-05D63D1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0C066-387A-42EB-9984-D6456D51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D026-5968-4089-8CEA-87F0E78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CBE73-CCC5-42B5-AA86-1F2E6D9D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IoU 0.50 does not encode the cost of misses, false alarms, or computation.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FE4CB-CBE3-41CB-B362-74B41466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C5C5C"/>
                </a:solidFill>
                <a:latin typeface="Arial"/>
                <a:ea typeface="Arial"/>
                <a:cs typeface="Arial"/>
              </a:rPr>
              <a:t>Test set  45 frames • 360 labeled instances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0FFAA-9513-4FAE-9A11-38959E1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4FF0A-D973-40C9-9D07-007F203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CBB4B-3115-4B93-97B1-6C273D0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1799293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644A0-0401-4A8A-ACC0-520976F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DECISION FRAMING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B4AA86B5-0B89-46A8-A281-65435E10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9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discussion should focus on operating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EB94-FC54-4340-BE49-E606899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FA5F9-C7F6-43BB-9E35-07F08A9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6C8A-3E66-4D16-8AD6-C6DD58A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1C94E-FD2C-4263-BF3E-E56EC3A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False-alarm tolerance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33726-BA8B-4372-A55A-93B7BA3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430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How costly is an incorrect buoy or boat alert compared with a missed target?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550C-D1AE-473C-99BB-7562283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9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A9DC8-5483-40B6-A09A-555C49D9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target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C6ECA-56D2-4531-BAAA-DC4B29E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Which buoy sizes, ranges, and visibility conditions must the system detect reliably?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30AD3-DB2C-40C5-ABAB-67A3AC9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8C9F5-B579-4D4A-8B38-89A3CCA3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Radar dependence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E1FA4-CE80-458B-8AE3-D4CE55B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How should performance degrade when radar returns are missing, merged, or land-contaminated?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9379A-886A-460B-B24B-AC644B6B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46DF2-7C2D-42A4-80F0-D2E6C69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3E2CF-70A9-4E42-B79E-4E7B8F4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What latency and compute envelope must inference satisfy on the intended platform?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9FEB1-D794-4EDE-9AAF-62147B4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0FB2-0290-4FAB-88D7-3F8D9E3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43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Generalization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3D0E5-E96E-44A2-B5F4-9C9CEF5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76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What additional scenes, weather, motion, and sensor configurations are required before comparing robustness?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4900C-7288-4EAE-A1AB-BEB10F6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These questions determine how the same precision–recall evidence should be interpreted.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97941-5F56-4010-BEF3-317225D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7DC16-8391-4874-9827-D78652E0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C4124-63DC-40D7-8A0B-3C37DE5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2035744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082FC-BD5A-4413-A81F-DF294A7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033784D-05D7-4D42-AFC0-6F5FDA4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settings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A51BE-FBDC-46EA-8E0F-D33641DB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27EDA-D9F0-423A-8A67-F3D33289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2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2A2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A2A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86B90-6BF8-4D80-9A7F-9064DD95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Ground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1C70C-B603-429A-B57B-BF4ED7D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300 camera frames • boat and buoy boxes • b2 removed after frame 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8B7CF-9960-4D95-AD42-47D0E86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935AE-5D4D-461D-9F04-6DB30B4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Splits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2F225-9501-47FC-8473-6FFB53A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210 train • 45 validation • 45 held-out test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D3448-60F2-43DB-A902-6A6AA1B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3F577-03EC-4A34-92B0-602B8BC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EEDDF-2358-4FD3-960A-3DF5C7BA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Class-aware one-to-one matching • IoU ≥ 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3365F-7DDB-44C2-BB38-1B5EB09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F5C91-9A5D-49EF-8B81-7EEC9F1C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8FE08-19DD-4A9C-BAA1-823C411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Grounding DINO base with a boat / vessel / buoy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3001C-8A30-407C-A7F7-55486BAF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7EC85-CFD6-49EE-9001-3FC71B8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Vision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C6109-E171-4D38-A0BD-474184F7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2048 × 1600 tiles • 300 px overlap • confidence ≥ 0.18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655F5-9E52-4D40-A082-F4F88E7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A1F8B-2E16-4F1A-AF49-94C67FA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Confidence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5B74A-5E14-48B4-987A-EACAAC30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Candidates ≥ 0.10 • final radar-supported cutoff 0.16 selected on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35C38-D87D-43CC-BB3D-CA93C154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91FCE-DC22-42D9-9297-2EFBAF5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Radar bounded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85DDA-B4E6-4FE9-8DE4-B47AC1F0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Water fraction ≥ 0.90 • 150 px padding • crop merge + class-aware NMS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74F91-78EF-45E1-ADC8-F8E7A49A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BC58B-362F-4F48-B59C-6CA7ECDD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C767E-560F-4307-B084-5A402E0B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36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63636"/>
                </a:solidFill>
                <a:latin typeface="Arial"/>
                <a:ea typeface="Arial"/>
                <a:cs typeface="Arial"/>
              </a:rPr>
              <a:t>Per-frame JSONL detections, metrics, full-resolution and zoomed evaluation videos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771CA-69C5-454E-B630-CC48B2D4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86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7F546-DC1C-41F8-A980-CADFD7A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300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000A"/>
                </a:solidFill>
                <a:latin typeface="Arial"/>
                <a:ea typeface="Arial"/>
                <a:cs typeface="Arial"/>
              </a:rPr>
              <a:t>Primary result artifact  •  experiments/detection_comparison/metrics.json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E81D5-975E-44E1-9336-A600309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0F9D7-1B3F-47C4-AB21-BD317E98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Dream Fusion detection experiments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C5D8A-903C-4C8E-8503-9D48A47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5C5C"/>
                </a:solidFill>
                <a:latin typeface="Arial"/>
                <a:ea typeface="Arial"/>
                <a:cs typeface="Arial"/>
              </a:rPr>
              <a:t>J.C. Vaught</a:t>
            </a:r>
          </a:p>
        </p:txBody>
      </p:sp>
    </p:spTree>
    <p:extLst>
      <p:ext uri="{BB962C8B-B14F-4D97-AF65-F5344CB8AC3E}">
        <p14:creationId xmlns:p14="http://schemas.microsoft.com/office/powerpoint/2010/main" val="2007705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2026-07-28T16:24:56.9810000Z</dcterms:created>
  <dcterms:modified xsi:type="dcterms:W3CDTF">2026-07-28T16:24:56.9810000Z</dcterms:modified>
</coreProperties>
</file>